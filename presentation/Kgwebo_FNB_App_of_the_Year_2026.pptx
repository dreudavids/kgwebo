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9" d="100"/>
          <a:sy n="159" d="100"/>
        </p:scale>
        <p:origin x="33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3752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on the product, not awards. Credentials are required for judges. DreuTech is an illustrative stall in ZAR. Do not claim 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Stay human. No invented statistics. Botswana-first product; screenshots later show a ZA/ZAR illustrative stall.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clearly what works: live auth, dashboard, money, stock, bills, Ask, reports. Demo stall is DreuTech in 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Offline: only amount-only creates and new unpaid bills queue. Pending is not cash. Product sales need a network. Ask can fall back to on-device heuristics if the cloud call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Tell the WhatsApp restock offer first. Point at the bills drop: R 31,840 → R 25,450. Label DreuTech illustrative. Do not claim Dreu is a real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four screens as one morning. End on the decision: restock is affordable after bills. Ask’s Confirm is still unsaved — say that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the screenshots do the talking. Point at cash vs sales, the forecast drop, and Ask’s Confirm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numbers back to Dreu’s morning. Do not imply a silent LLM posting. Cloud Ask uses kgwebo-copilot (LiteLLM). If the key is missing, Ask still answers from recorded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stack top to bottom. Emphasise: widgets do not calculate; pending is not cash; RLS not client honour; Ask cannot write SQL. Do not draw bank feeds.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Left path: honest offline. Right path: LLM cannot mutate the ledger. Say ‘confirm-before-save’ twice. Do not claim Ask is always online.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testimonials, no user counts, no revenue projections. Tie impact back to Dreu’s morning. Potential outcomes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on the line. Point judges at the credentials. Offer to open Ask live if time remains.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drive.google.com/drive/folders/1wElrUXpOcWKaumeP9yL9Q3arMl5naetR?usp=drive_link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hyperlink" Target="https://drive.google.com/drive/folders/1wElrUXpOcWKaumeP9yL9Q3arMl5naetR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n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"/>
            <a:ext cx="566928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45720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C6FF4A"/>
                </a:solidFill>
                <a:latin typeface="Fraunces"/>
                <a:ea typeface="Fraunces"/>
                <a:cs typeface="Fraunces"/>
              </a:rPr>
              <a:t>Kgwebo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5836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Helping small businesses
understand their money.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6217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D1D5DB"/>
                </a:solidFill>
                <a:latin typeface="Plus Jakarta Sans"/>
                <a:ea typeface="Plus Jakarta Sans"/>
                <a:cs typeface="Plus Jakarta Sans"/>
              </a:rPr>
              <a:t>A Flutter stall-finance app that records cash-basis activity, shows what cash is actually available, and turns those records into the next useful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86200"/>
            <a:ext cx="5943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6FF4A"/>
                </a:solidFill>
                <a:latin typeface="Plus Jakarta Sans"/>
                <a:ea typeface="Plus Jakarta Sans"/>
                <a:cs typeface="Plus Jakarta Sans"/>
              </a:rPr>
              <a:t>2026 FNB App of the Year  ·  Youth entrepreneurship &amp; small-business growth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480559"/>
            <a:ext cx="5852160" cy="1878129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4590288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6FF4A"/>
                </a:solidFill>
                <a:latin typeface="Plus Jakarta Sans"/>
                <a:ea typeface="Plus Jakarta Sans"/>
                <a:cs typeface="Plus Jakarta Sans"/>
              </a:rPr>
              <a:t>JUDGE DEMO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4828031"/>
            <a:ext cx="5486400" cy="148854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Email: dreu.davids1@gmail.com
Password: password
Stall: </a:t>
            </a:r>
            <a:r>
              <a:rPr sz="1600" b="0" dirty="0" err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DreuTech</a:t>
            </a:r>
            <a:r>
              <a:rPr sz="1600" b="0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  ·  illustrative records</a:t>
            </a:r>
            <a:endParaRPr lang="en-US" sz="1600" b="0" dirty="0">
              <a:solidFill>
                <a:srgbClr val="FFFFFF"/>
              </a:solidFill>
              <a:latin typeface="Plus Jakarta Sans"/>
              <a:ea typeface="Plus Jakarta Sans"/>
              <a:cs typeface="Plus Jakarta Sans"/>
            </a:endParaRPr>
          </a:p>
          <a:p>
            <a:r>
              <a:rPr lang="en-US" sz="1600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Demo &amp; </a:t>
            </a:r>
            <a:r>
              <a:rPr lang="en-US" sz="1600" dirty="0" err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Apk</a:t>
            </a:r>
            <a:r>
              <a:rPr lang="en-US" sz="1600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 Link:</a:t>
            </a:r>
            <a:r>
              <a:rPr lang="pt-BR" sz="2400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 </a:t>
            </a:r>
            <a:r>
              <a:rPr lang="pt-BR" sz="800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hlinkClick r:id="rId4"/>
              </a:rPr>
              <a:t>https://drive.google.com/drive/folders/1wElrUXpOcWKaumeP9yL9Q3arMl5naetR?usp=drive_link</a:t>
            </a:r>
            <a:br>
              <a:rPr lang="pt-BR" sz="800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</a:br>
            <a:r>
              <a:rPr lang="en-US" sz="1600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GitHub: https://github.com/DreuDavids/Kgwebo</a:t>
            </a:r>
            <a:endParaRPr sz="1600" b="0" dirty="0">
              <a:solidFill>
                <a:srgbClr val="FFFFFF"/>
              </a:solidFill>
              <a:latin typeface="Plus Jakarta Sans"/>
              <a:ea typeface="Plus Jakarta Sans"/>
              <a:cs typeface="Plus Jakarta Sans"/>
            </a:endParaRPr>
          </a:p>
        </p:txBody>
      </p:sp>
      <p:pic>
        <p:nvPicPr>
          <p:cNvPr id="11" name="Picture 10" descr="01-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320040"/>
            <a:ext cx="2840674" cy="6217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The till is busy. The picture of the money is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These are practical problems for informal traders and small service owners across Southern Africa.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68880"/>
            <a:ext cx="269748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69748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Records live in notebooks
and chat threads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114800"/>
            <a:ext cx="22860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Sales, expenses and stock are captured inconsistently, if at 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468880"/>
            <a:ext cx="269748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9312" y="269748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Cash on hand is a guess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4114800"/>
            <a:ext cx="22860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Money in the till is mixed with personal cash, unpaid sales and unpaid bills.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468880"/>
            <a:ext cx="269748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9672" y="269748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Upcoming bills arrive as surprises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4114800"/>
            <a:ext cx="22860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Rent, software and supplier payments are not visible before they fall due.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468880"/>
            <a:ext cx="269748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00032" y="269748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Numbers rarely become a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4114800"/>
            <a:ext cx="22860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A tracker that only lists transactions does not say what to do next.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Kgwebo  ·  FNB App of the Year 2026  ·  Judge demo: dreu.davids1@gmail.com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547104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658368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One place to record, understand, anticipate and 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64922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dirty="0" err="1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Kgwebo</a:t>
            </a:r>
            <a:r>
              <a:rPr sz="15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 is a working Android app. It already records sales and expenses, keeps a stock catalogue, forecasts outgoing bills, and answers questions from recorded figures.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51760"/>
            <a:ext cx="649224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6126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6126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Paid and unpaid sales, expenses, refunds, owner cash moves.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520440"/>
            <a:ext cx="649224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611880"/>
            <a:ext cx="6126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86200"/>
            <a:ext cx="6126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Recorded cash is separated from sales. Opening cash is not revenue.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389120"/>
            <a:ext cx="649224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4480560"/>
            <a:ext cx="6126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Anticipate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754880"/>
            <a:ext cx="6126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7 / 14 / 30-day outlook subtracts unpaid bills.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257799"/>
            <a:ext cx="649224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5349239"/>
            <a:ext cx="6126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623559"/>
            <a:ext cx="6126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Deterministic recommendations plus Ask</a:t>
            </a:r>
            <a:r>
              <a:rPr lang="en-US" sz="13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 Ai</a:t>
            </a:r>
            <a:r>
              <a:rPr sz="13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.</a:t>
            </a:r>
          </a:p>
        </p:txBody>
      </p:sp>
      <p:pic>
        <p:nvPicPr>
          <p:cNvPr id="18" name="Picture 17" descr="01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502920"/>
            <a:ext cx="2590026" cy="566928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Kgwebo  ·  FNB App of the Year 2026  ·  Judge demo: dreu.davids1@gmail.com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547104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Four screens. Four jobs.</a:t>
            </a:r>
          </a:p>
        </p:txBody>
      </p:sp>
      <p:pic>
        <p:nvPicPr>
          <p:cNvPr id="5" name="Picture 4" descr="03-money-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97280"/>
            <a:ext cx="1733646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983480"/>
            <a:ext cx="2743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Money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285232"/>
            <a:ext cx="27432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Sales, expenses, refunds and owner movements in one ledger.</a:t>
            </a:r>
          </a:p>
        </p:txBody>
      </p:sp>
      <p:pic>
        <p:nvPicPr>
          <p:cNvPr id="8" name="Picture 7" descr="05-st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097280"/>
            <a:ext cx="1733646" cy="3794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91840" y="4983480"/>
            <a:ext cx="2743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Stock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5285232"/>
            <a:ext cx="27432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Catalogue, cost, quantity. Inventory value.</a:t>
            </a:r>
          </a:p>
        </p:txBody>
      </p:sp>
      <p:pic>
        <p:nvPicPr>
          <p:cNvPr id="11" name="Picture 10" descr="04-cash-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097280"/>
            <a:ext cx="1733646" cy="3794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4983480"/>
            <a:ext cx="2743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Bills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285232"/>
            <a:ext cx="27432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Unpaid commitments sit in the forecast, not in recorded cash.</a:t>
            </a:r>
          </a:p>
        </p:txBody>
      </p:sp>
      <p:pic>
        <p:nvPicPr>
          <p:cNvPr id="14" name="Picture 13" descr="07-ask-int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1097280"/>
            <a:ext cx="1733646" cy="3794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0" y="4983480"/>
            <a:ext cx="2743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dirty="0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Ask</a:t>
            </a:r>
            <a:r>
              <a:rPr lang="en-US" sz="1600" b="1" dirty="0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 Ai</a:t>
            </a:r>
            <a:endParaRPr sz="1600" b="1" dirty="0">
              <a:solidFill>
                <a:srgbClr val="111111"/>
              </a:solidFill>
              <a:latin typeface="Plus Jakarta Sans"/>
              <a:ea typeface="Plus Jakarta Sans"/>
              <a:cs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0" y="5285232"/>
            <a:ext cx="27432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Talk or type. Figures come from Kgwebo. Nothing saves until confirm.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Kgwebo  ·  FNB App of the Year 2026  ·  Judge demo: dreu.davids1@gmail.com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547104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USER STORY  ·  ILLUSTRATIVE DREUTECH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The till looks full.
Rent is due in six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722376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Monday 26 October. Dreu runs </a:t>
            </a:r>
            <a:r>
              <a:rPr sz="1400" b="0" dirty="0" err="1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DreuTech</a:t>
            </a:r>
            <a:r>
              <a:rPr sz="14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 — cables, laptops, and the odd website job. A supplier </a:t>
            </a:r>
            <a:r>
              <a:rPr sz="1400" b="0" dirty="0" err="1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WhatsApps</a:t>
            </a:r>
            <a:r>
              <a:rPr sz="14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: ten USB-C hubs, R 4000 cash, today. The till shows R 31,840. Instinct says yes.
What the till does not say: office rent of R 5,500 lands on 1 November. Adobe Creative Cloud of </a:t>
            </a:r>
            <a:r>
              <a:rPr lang="en-US" sz="14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  </a:t>
            </a:r>
            <a:r>
              <a:rPr sz="14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R</a:t>
            </a:r>
            <a:r>
              <a:rPr lang="en-US" sz="14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 </a:t>
            </a:r>
            <a:r>
              <a:rPr sz="14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890 lands on 5 November. Three products are already low. A client just paid R 450 for a website fix that is not in the book yet.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246120"/>
            <a:ext cx="342900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3337560"/>
            <a:ext cx="31546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Recorded cash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3557016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R 31,840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246120"/>
            <a:ext cx="342900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61104" y="3337560"/>
            <a:ext cx="31546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Bills in 14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3557016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R 6,390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297680"/>
            <a:ext cx="342900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" y="4389120"/>
            <a:ext cx="31546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Supplier offer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4608576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R 4,000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4297680"/>
            <a:ext cx="342900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61104" y="4389120"/>
            <a:ext cx="31546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Cash after bills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4" y="4608576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R 25,450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40680"/>
            <a:ext cx="7223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dirty="0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The question is not “is there money in the till?” It is “can Dreu restock and still pay rent on 1</a:t>
            </a:r>
            <a:r>
              <a:rPr lang="en-US" sz="1300" b="0" dirty="0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st</a:t>
            </a:r>
            <a:r>
              <a:rPr sz="1300" b="0" dirty="0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 November?”</a:t>
            </a:r>
            <a:r>
              <a:rPr lang="en-US" sz="1300" b="0" dirty="0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.</a:t>
            </a:r>
            <a:endParaRPr sz="1300" b="0" dirty="0">
              <a:solidFill>
                <a:srgbClr val="111111"/>
              </a:solidFill>
              <a:latin typeface="Plus Jakarta Sans"/>
              <a:ea typeface="Plus Jakarta Sans"/>
              <a:cs typeface="Plus Jakarta Sans"/>
            </a:endParaRPr>
          </a:p>
        </p:txBody>
      </p:sp>
      <p:pic>
        <p:nvPicPr>
          <p:cNvPr id="19" name="Picture 18" descr="04-cash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365760"/>
            <a:ext cx="2736237" cy="598932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Kgwebo  ·  FNB App of the Year 2026  ·  Judge demo: dreu.davids1@gmail.com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547104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USER STORY  ·  SAME MORNING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0624"/>
            <a:ext cx="11155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Dreu opened Kgwebo and answered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32688"/>
            <a:ext cx="2816352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6344" y="1060704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344" y="1078992"/>
            <a:ext cx="31089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C6FF4A"/>
                </a:solidFill>
                <a:latin typeface="Plus Jakarta Sans"/>
                <a:ea typeface="Plus Jakarta Sans"/>
                <a:cs typeface="Plus Jakarta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060704"/>
            <a:ext cx="214884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See the cash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" y="1408176"/>
            <a:ext cx="252374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Home shows R 31,840 recorded cash. Unpaid bills are excluded. This is not free-to-spend money.</a:t>
            </a:r>
          </a:p>
        </p:txBody>
      </p:sp>
      <p:pic>
        <p:nvPicPr>
          <p:cNvPr id="10" name="Picture 9" descr="01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487168"/>
            <a:ext cx="1482998" cy="32461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64408" y="932688"/>
            <a:ext cx="2816352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10712" y="1060704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10712" y="1078992"/>
            <a:ext cx="31089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C6FF4A"/>
                </a:solidFill>
                <a:latin typeface="Plus Jakarta Sans"/>
                <a:ea typeface="Plus Jakarta Sans"/>
                <a:cs typeface="Plus Jakarta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1060704"/>
            <a:ext cx="214884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Subtract the bills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1408176"/>
            <a:ext cx="252374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14-day Bills path: rent 1 Nov, Adobe 5 Nov. After known bills: R 25,450. Incoming cash is not invented.</a:t>
            </a:r>
          </a:p>
        </p:txBody>
      </p:sp>
      <p:pic>
        <p:nvPicPr>
          <p:cNvPr id="16" name="Picture 15" descr="04-cash-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2487168"/>
            <a:ext cx="1482998" cy="32461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208776" y="932688"/>
            <a:ext cx="2816352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55080" y="1060704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1078992"/>
            <a:ext cx="31089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C6FF4A"/>
                </a:solidFill>
                <a:latin typeface="Plus Jakarta Sans"/>
                <a:ea typeface="Plus Jakarta Sans"/>
                <a:cs typeface="Plus Jakarta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060704"/>
            <a:ext cx="214884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Check the shelf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408176"/>
            <a:ext cx="252374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USB-C hub is genuinely low (2 left). Stock on the shelf is R 69,490 — labelled as not cash.</a:t>
            </a:r>
          </a:p>
        </p:txBody>
      </p:sp>
      <p:pic>
        <p:nvPicPr>
          <p:cNvPr id="22" name="Picture 21" descr="05-st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2487168"/>
            <a:ext cx="1482998" cy="324612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9153144" y="932688"/>
            <a:ext cx="2816352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299448" y="1060704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99448" y="1078992"/>
            <a:ext cx="31089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C6FF4A"/>
                </a:solidFill>
                <a:latin typeface="Plus Jakarta Sans"/>
                <a:ea typeface="Plus Jakarta Sans"/>
                <a:cs typeface="Plus Jakarta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65208" y="1060704"/>
            <a:ext cx="214884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dirty="0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Ask</a:t>
            </a:r>
            <a:r>
              <a:rPr lang="en-US" sz="1300" b="1" dirty="0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 Ai</a:t>
            </a:r>
            <a:r>
              <a:rPr sz="1300" b="1" dirty="0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, then 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1408176"/>
            <a:ext cx="252374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Ask answers cash from records. “I received R 450 for a website fix” becomes a draft. Confirm still waiting.</a:t>
            </a:r>
          </a:p>
        </p:txBody>
      </p:sp>
      <p:pic>
        <p:nvPicPr>
          <p:cNvPr id="28" name="Picture 27" descr="08-ask-draf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8632" y="2487168"/>
            <a:ext cx="1482998" cy="32461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57200" y="6016752"/>
            <a:ext cx="111556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Decision: R 4,000 restock still fits inside R 25,450 after rent and Adobe. Dreu can say yes with eyes open. The R 450 sale is not in cash until Confirm.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Kgwebo  ·  FNB App of the Year 2026  ·  Judge demo: dreu.davids1@gmail.com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547104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A CLOSER 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38912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The product, as it runs.</a:t>
            </a:r>
          </a:p>
        </p:txBody>
      </p:sp>
      <p:pic>
        <p:nvPicPr>
          <p:cNvPr id="5" name="Picture 4" descr="01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960120"/>
            <a:ext cx="2151392" cy="4709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580644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Home  ·  recorded cash first</a:t>
            </a:r>
          </a:p>
        </p:txBody>
      </p:sp>
      <p:pic>
        <p:nvPicPr>
          <p:cNvPr id="7" name="Picture 6" descr="03-money-his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960120"/>
            <a:ext cx="2151392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0" y="580644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Money  ·  the actual ledger</a:t>
            </a:r>
          </a:p>
        </p:txBody>
      </p:sp>
      <p:pic>
        <p:nvPicPr>
          <p:cNvPr id="9" name="Picture 8" descr="04-cash-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960120"/>
            <a:ext cx="2151392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580644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Bills  ·  cash after known commitments</a:t>
            </a:r>
          </a:p>
        </p:txBody>
      </p:sp>
      <p:pic>
        <p:nvPicPr>
          <p:cNvPr id="11" name="Picture 10" descr="08-ask-draf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0032" y="960120"/>
            <a:ext cx="2151392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0" y="580644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dirty="0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Ask</a:t>
            </a:r>
            <a:r>
              <a:rPr lang="en-US" sz="1200" b="1" dirty="0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 Ai</a:t>
            </a:r>
            <a:r>
              <a:rPr sz="1200" b="1" dirty="0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  ·  draft, then confirm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Kgwebo  ·  FNB App of the Year 2026  ·  Judge demo: dreu.davids1@gmail.com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547104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67665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Trustworthy figures first. Then a copilot that cannot quietly change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36118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Cash is not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3246120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Recorded cash = opening cash + paid in − paid out. Dreu’s R 24,000 laptop sale is cash only because it is marked paid.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417320"/>
            <a:ext cx="36118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527048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The till is not free cash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874520"/>
            <a:ext cx="3246120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R 31,840 is recorded cash. R 6,390 of bills still sit outside it until they are paid.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36118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944368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Bills wait their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3246120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Unpaid rent does not reduce cash today. The 14-day outlook subtracts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2834640"/>
            <a:ext cx="36118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2944368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Recommendations are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291840"/>
            <a:ext cx="3246120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Six evidence-backed rules. Low stock uses catalogue quantities. Copy says estimate, not advice.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51960"/>
            <a:ext cx="36118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361688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dirty="0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Ask</a:t>
            </a:r>
            <a:r>
              <a:rPr lang="en-US" sz="1400" b="1" dirty="0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 Ai</a:t>
            </a:r>
            <a:r>
              <a:rPr sz="1400" b="1" dirty="0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 is grounded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3246120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Ask</a:t>
            </a:r>
            <a:r>
              <a:rPr lang="en-US" sz="12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 Ai</a:t>
            </a:r>
            <a:r>
              <a:rPr sz="12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 reads </a:t>
            </a:r>
            <a:r>
              <a:rPr sz="1200" b="0" dirty="0" err="1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FinancialEngine</a:t>
            </a:r>
            <a:r>
              <a:rPr sz="12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. Money talk is overwritten with recorded figures. Nothing saves until Confirm.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4251960"/>
            <a:ext cx="36118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34840" y="4361688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Stock value is not cash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709160"/>
            <a:ext cx="3246120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R 69,490 on the shelf is cost × quantity. Spending it would be spending goods Dreu still needs to sell.</a:t>
            </a:r>
          </a:p>
        </p:txBody>
      </p:sp>
      <p:pic>
        <p:nvPicPr>
          <p:cNvPr id="23" name="Picture 22" descr="08-ask-dra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325880"/>
            <a:ext cx="2172280" cy="475488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Kgwebo  ·  FNB App of the Year 2026  ·  Judge demo: dreu.davids1@gmail.com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547104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Built so the phone cannot lie about money.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24128"/>
            <a:ext cx="15544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7400" y="960120"/>
            <a:ext cx="3142488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67128" y="1033272"/>
            <a:ext cx="2941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Flutter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7128" y="1289304"/>
            <a:ext cx="29413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Android screens. Widgets render values. They never add cash.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9616" y="960120"/>
            <a:ext cx="3142488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19344" y="1033272"/>
            <a:ext cx="2941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GoRouter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9344" y="1289304"/>
            <a:ext cx="29413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Auth guards and onboarding redirects.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61832" y="960120"/>
            <a:ext cx="3142488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71560" y="1033272"/>
            <a:ext cx="2941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Riverpod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71560" y="1289304"/>
            <a:ext cx="29413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One graph of state. Home, Bills, Reports and Ask</a:t>
            </a:r>
            <a:r>
              <a:rPr lang="en-US" sz="11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 Ai</a:t>
            </a:r>
            <a:r>
              <a:rPr sz="11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 subscribe to the same summary.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874519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212848"/>
            <a:ext cx="15544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MONEY 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7400" y="2121408"/>
            <a:ext cx="2329434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67128" y="2194560"/>
            <a:ext cx="212826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FinancialEngine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7128" y="2450592"/>
            <a:ext cx="212826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Pure Dart. Integer minor units.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96562" y="2121408"/>
            <a:ext cx="2329434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06290" y="2194560"/>
            <a:ext cx="212826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CashForecast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6290" y="2450592"/>
            <a:ext cx="212826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7 / 14 / 30-day path. Subtracts unpaid bills.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35724" y="2121408"/>
            <a:ext cx="2329434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5452" y="2194560"/>
            <a:ext cx="212826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RecommendationRules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5452" y="2450592"/>
            <a:ext cx="212826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Six deterministic rules. Empty stalls stay quiet.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4886" y="2121408"/>
            <a:ext cx="2329434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84614" y="2194560"/>
            <a:ext cx="212826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dirty="0" err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CopilotOrchestrator</a:t>
            </a:r>
            <a:r>
              <a:rPr lang="en-US" sz="1200" b="1" dirty="0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  (Ask Ai)</a:t>
            </a:r>
            <a:endParaRPr sz="1200" b="1" dirty="0">
              <a:solidFill>
                <a:srgbClr val="111111"/>
              </a:solidFill>
              <a:latin typeface="Plus Jakarta Sans"/>
              <a:ea typeface="Plus Jakarta Sans"/>
              <a:cs typeface="Plus Jakarta Sa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484614" y="2450592"/>
            <a:ext cx="212826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Classifies intent, grounds replies, never writes the ledger.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03580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3364992"/>
            <a:ext cx="15544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ON THE PHONE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57400" y="3273552"/>
            <a:ext cx="4768596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67128" y="3346704"/>
            <a:ext cx="45674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Drift cache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67128" y="3602736"/>
            <a:ext cx="4567428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Owner-keyed confirmed rows only. Stale cache is labelled, never invented.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35724" y="3273552"/>
            <a:ext cx="4768596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45452" y="3346704"/>
            <a:ext cx="45674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Sync outbox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5452" y="3602736"/>
            <a:ext cx="4567428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Amount-only creates and new bills. Pending is not cash, sales, or a forecast input.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187952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4526280"/>
            <a:ext cx="15544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SUPABASE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57400" y="4434840"/>
            <a:ext cx="2329434" cy="932688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67128" y="4507992"/>
            <a:ext cx="212826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6FF4A"/>
                </a:solidFill>
                <a:latin typeface="Plus Jakarta Sans"/>
                <a:ea typeface="Plus Jakarta Sans"/>
                <a:cs typeface="Plus Jakarta Sans"/>
              </a:rPr>
              <a:t>Auth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67128" y="4764024"/>
            <a:ext cx="212826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D1D5DB"/>
                </a:solidFill>
                <a:latin typeface="Plus Jakarta Sans"/>
                <a:ea typeface="Plus Jakarta Sans"/>
                <a:cs typeface="Plus Jakarta Sans"/>
              </a:rPr>
              <a:t>Email/password. JWT on every call. Publishable key only in the APK.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96562" y="4434840"/>
            <a:ext cx="2329434" cy="932688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06290" y="4507992"/>
            <a:ext cx="212826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6FF4A"/>
                </a:solidFill>
                <a:latin typeface="Plus Jakarta Sans"/>
                <a:ea typeface="Plus Jakarta Sans"/>
                <a:cs typeface="Plus Jakarta Sans"/>
              </a:rPr>
              <a:t>Postgres + FORCE RLS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6290" y="4764024"/>
            <a:ext cx="212826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D1D5DB"/>
                </a:solidFill>
                <a:latin typeface="Plus Jakarta Sans"/>
                <a:ea typeface="Plus Jakarta Sans"/>
                <a:cs typeface="Plus Jakarta Sans"/>
              </a:rPr>
              <a:t>Ownership frozen on write. A second account cannot read DreuTech.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35724" y="4434840"/>
            <a:ext cx="2329434" cy="932688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45452" y="4507992"/>
            <a:ext cx="212826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6FF4A"/>
                </a:solidFill>
                <a:latin typeface="Plus Jakarta Sans"/>
                <a:ea typeface="Plus Jakarta Sans"/>
                <a:cs typeface="Plus Jakarta Sans"/>
              </a:rPr>
              <a:t>Inventory RPCs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5452" y="4764024"/>
            <a:ext cx="212826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D1D5DB"/>
                </a:solidFill>
                <a:latin typeface="Plus Jakarta Sans"/>
                <a:ea typeface="Plus Jakarta Sans"/>
                <a:cs typeface="Plus Jakarta Sans"/>
              </a:rPr>
              <a:t>record_product_sale is atomic. Clients cannot insert stock rows.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74886" y="4434840"/>
            <a:ext cx="2329434" cy="932688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84614" y="4507992"/>
            <a:ext cx="212826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dirty="0" err="1">
                <a:solidFill>
                  <a:srgbClr val="C6FF4A"/>
                </a:solidFill>
                <a:latin typeface="Plus Jakarta Sans"/>
                <a:ea typeface="Plus Jakarta Sans"/>
                <a:cs typeface="Plus Jakarta Sans"/>
              </a:rPr>
              <a:t>kgwebo</a:t>
            </a:r>
            <a:r>
              <a:rPr sz="1200" b="1" dirty="0">
                <a:solidFill>
                  <a:srgbClr val="C6FF4A"/>
                </a:solidFill>
                <a:latin typeface="Plus Jakarta Sans"/>
                <a:ea typeface="Plus Jakarta Sans"/>
                <a:cs typeface="Plus Jakarta Sans"/>
              </a:rPr>
              <a:t>-</a:t>
            </a:r>
            <a:r>
              <a:rPr lang="en-US" sz="1200" b="1" dirty="0">
                <a:solidFill>
                  <a:srgbClr val="C6FF4A"/>
                </a:solidFill>
                <a:latin typeface="Plus Jakarta Sans"/>
                <a:ea typeface="Plus Jakarta Sans"/>
                <a:cs typeface="Plus Jakarta Sans"/>
              </a:rPr>
              <a:t>Ai</a:t>
            </a:r>
            <a:endParaRPr sz="1200" b="1" dirty="0">
              <a:solidFill>
                <a:srgbClr val="C6FF4A"/>
              </a:solidFill>
              <a:latin typeface="Plus Jakarta Sans"/>
              <a:ea typeface="Plus Jakarta Sans"/>
              <a:cs typeface="Plus Jakarta San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484614" y="4764024"/>
            <a:ext cx="2128266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D1D5DB"/>
                </a:solidFill>
                <a:latin typeface="Plus Jakarta Sans"/>
                <a:ea typeface="Plus Jakarta Sans"/>
                <a:cs typeface="Plus Jakarta Sans"/>
              </a:rPr>
              <a:t>Edge Function. Rate-limited. LiteLLM JSON. No SQL from the model.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532120"/>
            <a:ext cx="112471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dirty="0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One engine feeds Home, Bills, Reports, the PDF and Ask</a:t>
            </a:r>
            <a:r>
              <a:rPr lang="en-US" sz="1300" b="0" dirty="0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 Ai</a:t>
            </a:r>
            <a:r>
              <a:rPr sz="1300" b="0" dirty="0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. Isolation lives in Postgres (FORCE RLS, frozen </a:t>
            </a:r>
            <a:r>
              <a:rPr sz="1300" b="0" dirty="0" err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owner_id</a:t>
            </a:r>
            <a:r>
              <a:rPr sz="1300" b="0" dirty="0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, SECURITY DEFINER RPCs) — not in the client. There are no bank feeds, payment processors, or silent auto-posts in this build.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Kgwebo  ·  FNB App of the Year 2026  ·  Judge demo: dreu.davids1@gmail.com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94415" y="6547104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ARCHITECTURE  ·  TWO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The model is a parser. The ledger is the source of truth.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5532120" cy="4983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When Dreu records a sale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81328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99616"/>
            <a:ext cx="31089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C6FF4A"/>
                </a:solidFill>
                <a:latin typeface="Plus Jakarta Sans"/>
                <a:ea typeface="Plus Jakarta Sans"/>
                <a:cs typeface="Plus Jakarta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444752"/>
            <a:ext cx="4526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Form validators accept integer minor units. Binary float never holds money.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04288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322576"/>
            <a:ext cx="31089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C6FF4A"/>
                </a:solidFill>
                <a:latin typeface="Plus Jakarta Sans"/>
                <a:ea typeface="Plus Jakarta Sans"/>
                <a:cs typeface="Plus Jakarta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267712"/>
            <a:ext cx="4526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Repository tries Supabase first. Auth JWT. Idempotency key on every create.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27248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145536"/>
            <a:ext cx="31089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C6FF4A"/>
                </a:solidFill>
                <a:latin typeface="Plus Jakarta Sans"/>
                <a:ea typeface="Plus Jakarta Sans"/>
                <a:cs typeface="Plus Jakarta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090672"/>
            <a:ext cx="4526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Amount-only sale or new bill, network fails → durable outbox. Status: pending. FinancialEngine ignores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50208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968496"/>
            <a:ext cx="31089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C6FF4A"/>
                </a:solidFill>
                <a:latin typeface="Plus Jakarta Sans"/>
                <a:ea typeface="Plus Jakarta Sans"/>
                <a:cs typeface="Plus Jakarta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913632"/>
            <a:ext cx="4526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Product sale stays online. record_product_sale writes the transaction, line and stock movement in one RPC. Retry cannot double-count.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73168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791456"/>
            <a:ext cx="31089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C6FF4A"/>
                </a:solidFill>
                <a:latin typeface="Plus Jakarta Sans"/>
                <a:ea typeface="Plus Jakarta Sans"/>
                <a:cs typeface="Plus Jakarta San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736592"/>
            <a:ext cx="4526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Confirmed row </a:t>
            </a:r>
            <a:r>
              <a:rPr sz="1300" b="0" dirty="0" err="1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upserts</a:t>
            </a:r>
            <a:r>
              <a:rPr sz="13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 Drift. Home, Bills, Reports, PDF and Ask</a:t>
            </a:r>
            <a:r>
              <a:rPr lang="en-US" sz="13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 Ai</a:t>
            </a:r>
            <a:r>
              <a:rPr sz="13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 all recompute from </a:t>
            </a:r>
            <a:r>
              <a:rPr sz="1300" b="0" dirty="0" err="1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FinancialEngine</a:t>
            </a:r>
            <a:r>
              <a:rPr sz="1300" b="0" dirty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960120"/>
            <a:ext cx="5532120" cy="4983480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1078992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6FF4A"/>
                </a:solidFill>
                <a:latin typeface="Plus Jakarta Sans"/>
                <a:ea typeface="Plus Jakarta Sans"/>
                <a:cs typeface="Plus Jakarta Sans"/>
              </a:rPr>
              <a:t>When Dreu asks a question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1481328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C6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1499616"/>
            <a:ext cx="31089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1444752"/>
            <a:ext cx="4526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dirty="0" err="1">
                <a:solidFill>
                  <a:srgbClr val="E5E7EB"/>
                </a:solidFill>
                <a:latin typeface="Plus Jakarta Sans"/>
                <a:ea typeface="Plus Jakarta Sans"/>
                <a:cs typeface="Plus Jakarta Sans"/>
              </a:rPr>
              <a:t>CopilotOrchestrator</a:t>
            </a:r>
            <a:r>
              <a:rPr lang="en-US" sz="1300" b="0" dirty="0">
                <a:solidFill>
                  <a:srgbClr val="E5E7EB"/>
                </a:solidFill>
                <a:latin typeface="Plus Jakarta Sans"/>
                <a:ea typeface="Plus Jakarta Sans"/>
                <a:cs typeface="Plus Jakarta Sans"/>
              </a:rPr>
              <a:t>(Ask Ai)</a:t>
            </a:r>
            <a:r>
              <a:rPr sz="1300" b="0" dirty="0">
                <a:solidFill>
                  <a:srgbClr val="E5E7EB"/>
                </a:solidFill>
                <a:latin typeface="Plus Jakarta Sans"/>
                <a:ea typeface="Plus Jakarta Sans"/>
                <a:cs typeface="Plus Jakarta Sans"/>
              </a:rPr>
              <a:t> classifies intent from the utterance.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2304288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C6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2322576"/>
            <a:ext cx="31089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2267712"/>
            <a:ext cx="4526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E5E7EB"/>
                </a:solidFill>
                <a:latin typeface="Plus Jakarta Sans"/>
                <a:ea typeface="Plus Jakarta Sans"/>
                <a:cs typeface="Plus Jakarta Sans"/>
              </a:rPr>
              <a:t>A snapshot is read from FinancialEngine — the same R 31,840 Home already shows.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3127248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C6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3145536"/>
            <a:ext cx="31089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2" y="3090672"/>
            <a:ext cx="4526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E5E7EB"/>
                </a:solidFill>
                <a:latin typeface="Plus Jakarta Sans"/>
                <a:ea typeface="Plus Jakarta Sans"/>
                <a:cs typeface="Plus Jakarta Sans"/>
              </a:rPr>
              <a:t>JWT call to kgwebo-copilot. Rate-limited Edge Function. LiteLLM returns JSON only.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3950208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C6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3968496"/>
            <a:ext cx="31089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1152" y="3913632"/>
            <a:ext cx="4526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E5E7EB"/>
                </a:solidFill>
                <a:latin typeface="Plus Jakarta Sans"/>
                <a:ea typeface="Plus Jakarta Sans"/>
                <a:cs typeface="Plus Jakarta Sans"/>
              </a:rPr>
              <a:t>groundCopilotTurn overwrites any invented cash, sales or advice with recorded figures.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4773168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C6F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4791456"/>
            <a:ext cx="31089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1152" y="4736592"/>
            <a:ext cx="4526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E5E7EB"/>
                </a:solidFill>
                <a:latin typeface="Plus Jakarta Sans"/>
                <a:ea typeface="Plus Jakarta Sans"/>
                <a:cs typeface="Plus Jakarta Sans"/>
              </a:rPr>
              <a:t>A draft is shown. Confirm runs CopilotLedgerCommit through the same repository as a typed sale. Cloud down? On-device heuristics, still grounded, still confirm-before-save.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Kgwebo  ·  FNB App of the Year 2026  ·  Judge demo: dreu.davids1@gmail.com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4415" y="6547104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IMPACT AND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Better habits. Clearer cash. Room to grow.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1115568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55064"/>
            <a:ext cx="10698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Daily recording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06984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A stall that captures the R 450 website fix the same morning can see cash move instead of reconstructing the week from chat threads.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06040"/>
            <a:ext cx="1115568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752344"/>
            <a:ext cx="10698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Cash that is actually 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106984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Dreu’s restock decision uses R 25,450 after known bills, not the R 31,840 sitting in the till. Money already spoken for stays visible.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03320"/>
            <a:ext cx="1115568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849624"/>
            <a:ext cx="10698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Stock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106984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Low-stock notices use saved catalogue quantities. Inventory value is labelled as not cash, so a full shelf does not look like a full till.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800599"/>
            <a:ext cx="1115568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946903"/>
            <a:ext cx="10698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11111"/>
                </a:solidFill>
                <a:latin typeface="Plus Jakarta Sans"/>
                <a:ea typeface="Plus Jakarta Sans"/>
                <a:cs typeface="Plus Jakarta Sans"/>
              </a:rPr>
              <a:t>A path that stays cheap to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57799"/>
            <a:ext cx="106984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One Flutter app, one Supabase project, one money engine. Operating cost stays a small backend, not a stack of bank feeds and extra models.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</a:rPr>
              <a:t>Kgwebo  ·  FNB App of the Year 2026  ·  Judge demo: dreu.davids1@gmail.com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547104"/>
            <a:ext cx="640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n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0292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C6FF4A"/>
                </a:solidFill>
                <a:latin typeface="Fraunces"/>
                <a:ea typeface="Fraunces"/>
                <a:cs typeface="Fraunces"/>
              </a:rPr>
              <a:t>Kgwebo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76656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Every business deserves a clearer picture of its money.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6583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D1D5DB"/>
                </a:solidFill>
                <a:latin typeface="Plus Jakarta Sans"/>
                <a:ea typeface="Plus Jakarta Sans"/>
                <a:cs typeface="Plus Jakarta Sans"/>
              </a:rPr>
              <a:t>Record what happened. See the cash that is actually free. Act before rent lands.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60520"/>
            <a:ext cx="6400800" cy="1957538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4270248"/>
            <a:ext cx="6035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6FF4A"/>
                </a:solidFill>
                <a:latin typeface="Plus Jakarta Sans"/>
                <a:ea typeface="Plus Jakarta Sans"/>
                <a:cs typeface="Plus Jakarta Sans"/>
              </a:rPr>
              <a:t>JUDGE DEMO 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507992"/>
            <a:ext cx="6035040" cy="150178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Email: dreu.davids1@gmail.com
Password: password
Stall: </a:t>
            </a:r>
            <a:r>
              <a:rPr sz="1600" b="0" dirty="0" err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DreuTech</a:t>
            </a:r>
            <a:r>
              <a:rPr sz="1600" b="0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  ·  illustrative records</a:t>
            </a:r>
            <a:endParaRPr lang="en-US" sz="1600" b="0" dirty="0">
              <a:solidFill>
                <a:srgbClr val="FFFFFF"/>
              </a:solidFill>
              <a:latin typeface="Plus Jakarta Sans"/>
              <a:ea typeface="Plus Jakarta Sans"/>
              <a:cs typeface="Plus Jakarta Sans"/>
            </a:endParaRPr>
          </a:p>
          <a:p>
            <a:r>
              <a:rPr lang="en-US" sz="1600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Demo &amp; </a:t>
            </a:r>
            <a:r>
              <a:rPr lang="en-US" sz="1600" dirty="0" err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Apk</a:t>
            </a:r>
            <a:r>
              <a:rPr lang="en-US" sz="1600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 Link: </a:t>
            </a:r>
            <a:r>
              <a:rPr lang="en-US" sz="1100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hlinkClick r:id="rId4"/>
              </a:rPr>
              <a:t>https://drive.google.com/drive/folders/1wElrUXpOcWKaumeP9yL9Q3arMl5naetR?usp=drive_link</a:t>
            </a:r>
            <a:br>
              <a:rPr lang="en-US" sz="1100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</a:br>
            <a:r>
              <a:rPr lang="en-US" sz="1600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GitHub: https://github.com/DreuDavids/Kgwebo</a:t>
            </a:r>
            <a:endParaRPr sz="1600" b="0" dirty="0">
              <a:solidFill>
                <a:srgbClr val="FFFFFF"/>
              </a:solidFill>
              <a:latin typeface="Plus Jakarta Sans"/>
              <a:ea typeface="Plus Jakarta Sans"/>
              <a:cs typeface="Plus Jakarta Sans"/>
            </a:endParaRPr>
          </a:p>
        </p:txBody>
      </p:sp>
      <p:pic>
        <p:nvPicPr>
          <p:cNvPr id="10" name="Picture 9" descr="07-ask-c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365760"/>
            <a:ext cx="2798899" cy="6126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2101</Words>
  <Application>Microsoft Office PowerPoint</Application>
  <PresentationFormat>Widescreen</PresentationFormat>
  <Paragraphs>194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Fraunces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David Modise</dc:creator>
  <cp:keywords/>
  <dc:description>generated using python-pptx</dc:description>
  <cp:lastModifiedBy>David Modise</cp:lastModifiedBy>
  <cp:revision>4</cp:revision>
  <dcterms:created xsi:type="dcterms:W3CDTF">2013-01-27T09:14:16Z</dcterms:created>
  <dcterms:modified xsi:type="dcterms:W3CDTF">2026-10-26T20:40:32Z</dcterms:modified>
  <cp:category/>
</cp:coreProperties>
</file>